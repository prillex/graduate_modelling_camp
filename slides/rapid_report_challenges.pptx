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ngs_colle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7050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3207952"/>
            <a:ext cx="14630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18264"/>
            <a:ext cx="11338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Modelling House Prices in Cambridgeshire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32664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>
                <a:solidFill>
                  <a:srgbClr val="C3C2B7"/>
                </a:solidFill>
                <a:latin typeface="Calibri"/>
              </a:rPr>
              <a:t>Rapid Report — the challenges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898781"/>
                </a:solidFill>
                <a:latin typeface="Calibri"/>
              </a:rPr>
              <a:t>Diana · Matt · Davies · Natsani · Xiangjun · Vedanta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2A78D6"/>
                </a:solidFill>
                <a:latin typeface="Calibri"/>
              </a:rPr>
              <a:t>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What we’re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Calibri"/>
              </a:rPr>
              <a:t>Modelling House Prices in Cambridgeshire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697480" cy="1207008"/>
          </a:xfrm>
          <a:prstGeom prst="round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11095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A78D6"/>
                </a:solidFill>
                <a:latin typeface="Calibri"/>
              </a:rPr>
              <a:t>59,787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9464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sold prices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783080"/>
            <a:ext cx="2697480" cy="1207008"/>
          </a:xfrm>
          <a:prstGeom prst="round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911095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BAF7A"/>
                </a:solidFill>
                <a:latin typeface="Calibri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569464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property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2697480" cy="1207008"/>
          </a:xfrm>
          <a:prstGeom prst="round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82696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B6834"/>
                </a:solidFill>
                <a:latin typeface="Calibri"/>
              </a:rPr>
              <a:t>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41064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areas (MSOAs)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154680"/>
            <a:ext cx="2697480" cy="1207008"/>
          </a:xfrm>
          <a:prstGeom prst="round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3282696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4A3AA7"/>
                </a:solidFill>
                <a:latin typeface="Calibri"/>
              </a:rPr>
              <a:t>£350k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941064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median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57607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▪  </a:t>
            </a:r>
            <a:r>
              <a:rPr sz="1500" b="0">
                <a:solidFill>
                  <a:srgbClr val="52514E"/>
                </a:solidFill>
                <a:latin typeface="Calibri"/>
              </a:rPr>
              <a:t>Sold prices 2018–22 across Cambridge &amp; its districts</a:t>
            </a:r>
          </a:p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▪  </a:t>
            </a:r>
            <a:r>
              <a:rPr sz="1500" b="0">
                <a:solidFill>
                  <a:srgbClr val="52514E"/>
                </a:solidFill>
                <a:latin typeface="Calibri"/>
              </a:rPr>
              <a:t>Three feature families: property, location, social profile</a:t>
            </a:r>
          </a:p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▪  </a:t>
            </a:r>
            <a:r>
              <a:rPr sz="1500" b="0">
                <a:solidFill>
                  <a:srgbClr val="52514E"/>
                </a:solidFill>
                <a:latin typeface="Calibri"/>
              </a:rPr>
              <a:t>Rich — but every family brought its own challenges</a:t>
            </a:r>
          </a:p>
        </p:txBody>
      </p:sp>
      <p:pic>
        <p:nvPicPr>
          <p:cNvPr id="19" name="Picture 18" descr="cambridgeshire_pri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671" y="1371600"/>
            <a:ext cx="4330976" cy="5212080"/>
          </a:xfrm>
          <a:prstGeom prst="rect">
            <a:avLst/>
          </a:prstGeom>
          <a:ln w="12700">
            <a:solidFill>
              <a:srgbClr val="E1E0D9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EB6834"/>
                </a:solidFill>
                <a:latin typeface="Calibri"/>
              </a:rPr>
              <a:t>CHALLENGE 1 · THE DATA FIGHTS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Time, duplicates &amp; missing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Calibri"/>
              </a:rPr>
              <a:t>Modelling House Prices in Cambridgeshire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1">
                <a:solidFill>
                  <a:srgbClr val="EB6834"/>
                </a:solidFill>
                <a:latin typeface="Calibri"/>
              </a:rPr>
              <a:t>▪  </a:t>
            </a:r>
            <a:r>
              <a:rPr sz="1500" b="0">
                <a:solidFill>
                  <a:srgbClr val="52514E"/>
                </a:solidFill>
                <a:latin typeface="Calibri"/>
              </a:rPr>
              <a:t>Sold dates imputed to 31 March (year-end) — not real timing, and not a time series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1">
                <a:solidFill>
                  <a:srgbClr val="EB6834"/>
                </a:solidFill>
                <a:latin typeface="Calibri"/>
              </a:rPr>
              <a:t>▪  </a:t>
            </a:r>
            <a:r>
              <a:rPr sz="1500" b="0">
                <a:solidFill>
                  <a:srgbClr val="52514E"/>
                </a:solidFill>
                <a:latin typeface="Calibri"/>
              </a:rPr>
              <a:t>59% of rows are exact duplicates — must de-duplicate before modelling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1">
                <a:solidFill>
                  <a:srgbClr val="EB6834"/>
                </a:solidFill>
                <a:latin typeface="Calibri"/>
              </a:rPr>
              <a:t>▪  </a:t>
            </a:r>
            <a:r>
              <a:rPr sz="1500" b="0">
                <a:solidFill>
                  <a:srgbClr val="52514E"/>
                </a:solidFill>
                <a:latin typeface="Calibri"/>
              </a:rPr>
              <a:t>Bedrooms / bathrooms coded 0 = missing (12k baths fixed, 16k receptions to handle)</a:t>
            </a:r>
          </a:p>
        </p:txBody>
      </p:sp>
      <p:pic>
        <p:nvPicPr>
          <p:cNvPr id="7" name="Picture 6" descr="cambridgeshire_sales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779" y="3246120"/>
            <a:ext cx="7255400" cy="3246120"/>
          </a:xfrm>
          <a:prstGeom prst="rect">
            <a:avLst/>
          </a:prstGeom>
          <a:ln w="12700">
            <a:solidFill>
              <a:srgbClr val="E1E0D9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1BAF7A"/>
                </a:solidFill>
                <a:latin typeface="Calibri"/>
              </a:rPr>
              <a:t>CHALLENGE 2 · TOO MANY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High-dimensional — and highly redundant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Calibri"/>
              </a:rPr>
              <a:t>Modelling House Prices in Cambridgeshire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5778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1600"/>
              </a:spcAft>
            </a:pPr>
            <a:r>
              <a:rPr sz="1300" b="1">
                <a:solidFill>
                  <a:srgbClr val="1BAF7A"/>
                </a:solidFill>
                <a:latin typeface="Calibri"/>
              </a:rPr>
              <a:t>▪  </a:t>
            </a:r>
            <a:r>
              <a:rPr sz="1500" b="0">
                <a:solidFill>
                  <a:srgbClr val="52514E"/>
                </a:solidFill>
                <a:latin typeface="Calibri"/>
              </a:rPr>
              <a:t>24 types + ~25 census variables → high-dimensional</a:t>
            </a:r>
          </a:p>
          <a:p>
            <a:pPr algn="l">
              <a:lnSpc>
                <a:spcPct val="106000"/>
              </a:lnSpc>
              <a:spcAft>
                <a:spcPts val="1600"/>
              </a:spcAft>
            </a:pPr>
            <a:r>
              <a:rPr sz="1300" b="1">
                <a:solidFill>
                  <a:srgbClr val="1BAF7A"/>
                </a:solidFill>
                <a:latin typeface="Calibri"/>
              </a:rPr>
              <a:t>▪  </a:t>
            </a:r>
            <a:r>
              <a:rPr sz="1500" b="0">
                <a:solidFill>
                  <a:srgbClr val="52514E"/>
                </a:solidFill>
                <a:latin typeface="Calibri"/>
              </a:rPr>
              <a:t>Census blocks (age, commute, quals) each sum to 100% → collinear</a:t>
            </a:r>
          </a:p>
          <a:p>
            <a:pPr algn="l">
              <a:lnSpc>
                <a:spcPct val="106000"/>
              </a:lnSpc>
              <a:spcAft>
                <a:spcPts val="1600"/>
              </a:spcAft>
            </a:pPr>
            <a:r>
              <a:rPr sz="1300" b="1">
                <a:solidFill>
                  <a:srgbClr val="1BAF7A"/>
                </a:solidFill>
                <a:latin typeface="Calibri"/>
              </a:rPr>
              <a:t>▪  </a:t>
            </a:r>
            <a:r>
              <a:rPr sz="1500" b="0">
                <a:solidFill>
                  <a:srgbClr val="52514E"/>
                </a:solidFill>
                <a:latin typeface="Calibri"/>
              </a:rPr>
              <a:t>Selection: intuitive vs optimised; Stepwise vs RFE</a:t>
            </a:r>
          </a:p>
          <a:p>
            <a:pPr algn="l">
              <a:lnSpc>
                <a:spcPct val="106000"/>
              </a:lnSpc>
              <a:spcAft>
                <a:spcPts val="1600"/>
              </a:spcAft>
            </a:pPr>
            <a:r>
              <a:rPr sz="1300" b="1">
                <a:solidFill>
                  <a:srgbClr val="1BAF7A"/>
                </a:solidFill>
                <a:latin typeface="Calibri"/>
              </a:rPr>
              <a:t>▪  </a:t>
            </a:r>
            <a:r>
              <a:rPr sz="1500" b="0">
                <a:solidFill>
                  <a:srgbClr val="52514E"/>
                </a:solidFill>
                <a:latin typeface="Calibri"/>
              </a:rPr>
              <a:t>Baseline linear vs complex non-linear models</a:t>
            </a:r>
          </a:p>
        </p:txBody>
      </p:sp>
      <p:pic>
        <p:nvPicPr>
          <p:cNvPr id="7" name="Picture 6" descr="cambridgeshire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93815"/>
            <a:ext cx="5486400" cy="4801888"/>
          </a:xfrm>
          <a:prstGeom prst="rect">
            <a:avLst/>
          </a:prstGeom>
          <a:ln w="12700">
            <a:solidFill>
              <a:srgbClr val="E1E0D9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4A3AA7"/>
                </a:solidFill>
                <a:latin typeface="Calibri"/>
              </a:rPr>
              <a:t>CHALLENGE 3 · WHAT TO KEEP &amp;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Location already carries the social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Calibri"/>
              </a:rPr>
              <a:t>Modelling House Prices in Cambridgeshire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1">
                <a:solidFill>
                  <a:srgbClr val="4A3AA7"/>
                </a:solidFill>
                <a:latin typeface="Calibri"/>
              </a:rPr>
              <a:t>▪  </a:t>
            </a:r>
            <a:r>
              <a:rPr sz="1500" b="0">
                <a:solidFill>
                  <a:srgbClr val="52514E"/>
                </a:solidFill>
                <a:latin typeface="Calibri"/>
              </a:rPr>
              <a:t>Strong social→price links collapse ~64% once distance to Cambridge &amp; London is known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1">
                <a:solidFill>
                  <a:srgbClr val="4A3AA7"/>
                </a:solidFill>
                <a:latin typeface="Calibri"/>
              </a:rPr>
              <a:t>▪  </a:t>
            </a:r>
            <a:r>
              <a:rPr sz="1500" b="0">
                <a:solidFill>
                  <a:srgbClr val="52514E"/>
                </a:solidFill>
                <a:latin typeface="Calibri"/>
              </a:rPr>
              <a:t>So we model property + location only — no social variables, almost no signal lost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300" b="1">
                <a:solidFill>
                  <a:srgbClr val="4A3AA7"/>
                </a:solidFill>
                <a:latin typeface="Calibri"/>
              </a:rPr>
              <a:t>▪  </a:t>
            </a:r>
            <a:r>
              <a:rPr sz="1500" b="0">
                <a:solidFill>
                  <a:srgbClr val="52514E"/>
                </a:solidFill>
                <a:latin typeface="Calibri"/>
              </a:rPr>
              <a:t>Target is skewed &amp; bounded → model log(price)</a:t>
            </a:r>
          </a:p>
        </p:txBody>
      </p:sp>
      <p:pic>
        <p:nvPicPr>
          <p:cNvPr id="7" name="Picture 6" descr="cambridgeshire_social_vs_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561" y="3200400"/>
            <a:ext cx="6162396" cy="3291840"/>
          </a:xfrm>
          <a:prstGeom prst="rect">
            <a:avLst/>
          </a:prstGeom>
          <a:ln w="12700">
            <a:solidFill>
              <a:srgbClr val="E1E0D9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