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rapid report: modelling residential house prices across Cambridgeshire, 2018–2022. Team of six.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Sold prices 2018–2022 across 24 property types, with variables like rooms, location, distance to work, social profiles. Three data concerns and how we addressed each — the chart shows the date-of-sale artifact where financial year-end dates get imputed as 31 March.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modelling decisions: intuitive vs optimised variable selection; stepwise vs recursive feature elimination; baseline linear vs complex non-linear models for high dimensionality. Map shows median sale price by area — priciest in Cambridge and villages west of the 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281113"/>
            <a:ext cx="495300" cy="19050"/>
          </a:xfrm>
          <a:prstGeom prst="rect">
            <a:avLst/>
          </a:prstGeom>
          <a:solidFill>
            <a:srgbClr val="22407A"/>
          </a:solidFill>
          <a:ln/>
        </p:spPr>
      </p:sp>
      <p:sp>
        <p:nvSpPr>
          <p:cNvPr id="3" name="Text 1"/>
          <p:cNvSpPr/>
          <p:nvPr/>
        </p:nvSpPr>
        <p:spPr>
          <a:xfrm>
            <a:off x="1714500" y="1143000"/>
            <a:ext cx="247440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224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RAPID REPORT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135413" y="1143000"/>
            <a:ext cx="26372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494386" y="1143000"/>
            <a:ext cx="226821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6B63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2018 – 2022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1857375"/>
            <a:ext cx="13735050" cy="22142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8400" spc="-84" kern="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 House Prices in Cambridgeshire</a:t>
            </a:r>
            <a:endParaRPr lang="en-US" sz="8400" dirty="0"/>
          </a:p>
        </p:txBody>
      </p:sp>
      <p:sp>
        <p:nvSpPr>
          <p:cNvPr id="7" name="Text 5"/>
          <p:cNvSpPr/>
          <p:nvPr/>
        </p:nvSpPr>
        <p:spPr>
          <a:xfrm>
            <a:off x="1047750" y="4357390"/>
            <a:ext cx="10301288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775" i="1" dirty="0">
                <a:solidFill>
                  <a:srgbClr val="6B63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rapid statistical study of residential sale prices and the models that predict them.</a:t>
            </a:r>
            <a:endParaRPr lang="en-US" sz="2775" dirty="0"/>
          </a:p>
        </p:txBody>
      </p:sp>
      <p:sp>
        <p:nvSpPr>
          <p:cNvPr id="8" name="Text 6"/>
          <p:cNvSpPr/>
          <p:nvPr/>
        </p:nvSpPr>
        <p:spPr>
          <a:xfrm>
            <a:off x="1047750" y="5157490"/>
            <a:ext cx="178117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PREPARED BY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5586115"/>
            <a:ext cx="801439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Diana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2039689" y="5586115"/>
            <a:ext cx="17003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CDC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2400226" y="5586115"/>
            <a:ext cx="65171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</a:t>
            </a:r>
            <a:endParaRPr lang="en-US" sz="2175" dirty="0"/>
          </a:p>
        </p:txBody>
      </p:sp>
      <p:sp>
        <p:nvSpPr>
          <p:cNvPr id="12" name="Text 10"/>
          <p:cNvSpPr/>
          <p:nvPr/>
        </p:nvSpPr>
        <p:spPr>
          <a:xfrm>
            <a:off x="3242444" y="5586115"/>
            <a:ext cx="17003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CDC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3602980" y="5586115"/>
            <a:ext cx="91819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Davies</a:t>
            </a:r>
            <a:endParaRPr lang="en-US" sz="2175" dirty="0"/>
          </a:p>
        </p:txBody>
      </p:sp>
      <p:sp>
        <p:nvSpPr>
          <p:cNvPr id="14" name="Text 12"/>
          <p:cNvSpPr/>
          <p:nvPr/>
        </p:nvSpPr>
        <p:spPr>
          <a:xfrm>
            <a:off x="4711675" y="5586115"/>
            <a:ext cx="17003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CDC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5072211" y="5586115"/>
            <a:ext cx="1046857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Natsani</a:t>
            </a:r>
            <a:endParaRPr lang="en-US" sz="2175" dirty="0"/>
          </a:p>
        </p:txBody>
      </p:sp>
      <p:sp>
        <p:nvSpPr>
          <p:cNvPr id="16" name="Text 14"/>
          <p:cNvSpPr/>
          <p:nvPr/>
        </p:nvSpPr>
        <p:spPr>
          <a:xfrm>
            <a:off x="6309568" y="5586115"/>
            <a:ext cx="17003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CDC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6670104" y="5586115"/>
            <a:ext cx="118519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Xiangjun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8045797" y="5586115"/>
            <a:ext cx="17003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CDC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2175" dirty="0"/>
          </a:p>
        </p:txBody>
      </p:sp>
      <p:sp>
        <p:nvSpPr>
          <p:cNvPr id="19" name="Text 17"/>
          <p:cNvSpPr/>
          <p:nvPr/>
        </p:nvSpPr>
        <p:spPr>
          <a:xfrm>
            <a:off x="8406333" y="5586115"/>
            <a:ext cx="112127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Vedanta</a:t>
            </a:r>
            <a:endParaRPr lang="en-US" sz="2175" dirty="0"/>
          </a:p>
        </p:txBody>
      </p:sp>
      <p:sp>
        <p:nvSpPr>
          <p:cNvPr id="20" name="Shape 18"/>
          <p:cNvSpPr/>
          <p:nvPr/>
        </p:nvSpPr>
        <p:spPr>
          <a:xfrm>
            <a:off x="13703541" y="6654779"/>
            <a:ext cx="3260367" cy="2652246"/>
          </a:xfrm>
          <a:prstGeom prst="roundRect">
            <a:avLst>
              <a:gd name="adj" fmla="val 1437"/>
            </a:avLst>
          </a:prstGeom>
          <a:solidFill>
            <a:srgbClr val="22407A"/>
          </a:solidFill>
          <a:ln w="28575">
            <a:solidFill>
              <a:srgbClr val="FBF8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113475" y="6895246"/>
            <a:ext cx="2559694" cy="504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spc="504" kern="0" dirty="0">
                <a:solidFill>
                  <a:srgbClr val="C9D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EST. AGENT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038799" y="7246812"/>
            <a:ext cx="2609785" cy="1221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4200" b="1" spc="42" kern="0" dirty="0">
                <a:solidFill>
                  <a:srgbClr val="FB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SALE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15029008" y="8477251"/>
            <a:ext cx="534758" cy="75215"/>
          </a:xfrm>
          <a:prstGeom prst="roundRect">
            <a:avLst>
              <a:gd name="adj" fmla="val 25327"/>
            </a:avLst>
          </a:prstGeom>
          <a:solidFill>
            <a:srgbClr val="B3541E"/>
          </a:solidFill>
          <a:ln/>
        </p:spPr>
      </p:sp>
      <p:sp>
        <p:nvSpPr>
          <p:cNvPr id="24" name="Text 22"/>
          <p:cNvSpPr/>
          <p:nvPr/>
        </p:nvSpPr>
        <p:spPr>
          <a:xfrm>
            <a:off x="13995611" y="8580776"/>
            <a:ext cx="2559694" cy="504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spc="216" kern="0" dirty="0">
                <a:solidFill>
                  <a:srgbClr val="C9D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CAMBS · 2018–22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164031" y="9196330"/>
            <a:ext cx="122524" cy="670441"/>
          </a:xfrm>
          <a:prstGeom prst="rect">
            <a:avLst/>
          </a:prstGeom>
          <a:solidFill>
            <a:srgbClr val="22407A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rcRect l="694" r="694" t="0" b="0"/>
          <a:stretch/>
        </p:blipFill>
        <p:spPr>
          <a:xfrm>
            <a:off x="0" y="6438602"/>
            <a:ext cx="18288000" cy="4114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0" y="6438602"/>
            <a:ext cx="18288000" cy="4114800"/>
          </a:xfrm>
          <a:prstGeom prst="rect">
            <a:avLst/>
          </a:prstGeom>
          <a:gradFill rotWithShape="1">
            <a:gsLst>
              <a:gs pos="0">
                <a:srgbClr val="F2ECE0">
                  <a:alpha val="55000"/>
                </a:srgbClr>
              </a:gs>
              <a:gs pos="22000">
                <a:srgbClr val="F2ECE0">
                  <a:alpha val="0"/>
                </a:srgbClr>
              </a:gs>
            </a:gsLst>
            <a:lin ang="5400000" scaled="0"/>
          </a:gra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00275"/>
            <a:ext cx="16459200" cy="19050"/>
          </a:xfrm>
          <a:prstGeom prst="rect">
            <a:avLst/>
          </a:prstGeom>
          <a:solidFill>
            <a:srgbClr val="DDD3C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781719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224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THE DATA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247775"/>
            <a:ext cx="781719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50" spc="-52" kern="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 &amp; Concerns</a:t>
            </a:r>
            <a:endParaRPr lang="en-US" sz="5250" dirty="0"/>
          </a:p>
        </p:txBody>
      </p:sp>
      <p:sp>
        <p:nvSpPr>
          <p:cNvPr id="5" name="Text 3"/>
          <p:cNvSpPr/>
          <p:nvPr/>
        </p:nvSpPr>
        <p:spPr>
          <a:xfrm>
            <a:off x="13906485" y="990600"/>
            <a:ext cx="1473562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yrs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906485" y="1562100"/>
            <a:ext cx="147356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 – 2022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725522" y="990600"/>
            <a:ext cx="164807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3900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5725522" y="1562100"/>
            <a:ext cx="16480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types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638425"/>
            <a:ext cx="714811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VARIABLES IN PLAY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105150"/>
            <a:ext cx="714811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profile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14400" y="3471863"/>
            <a:ext cx="714811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Bedrooms · Bathrooms · Reception rooms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14400" y="3962400"/>
            <a:ext cx="714811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914400" y="4329113"/>
            <a:ext cx="714811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MSOA &amp; LSOA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4819650"/>
            <a:ext cx="714811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b="1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profile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14400" y="5186363"/>
            <a:ext cx="7148111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Ethnicity · Age · Education · Distance to work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5848350"/>
            <a:ext cx="714811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CONCERN → SOLUTION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6315075"/>
            <a:ext cx="28575" cy="781050"/>
          </a:xfrm>
          <a:prstGeom prst="rect">
            <a:avLst/>
          </a:prstGeom>
          <a:solidFill>
            <a:srgbClr val="22407A"/>
          </a:solidFill>
          <a:ln/>
        </p:spPr>
      </p:sp>
      <p:sp>
        <p:nvSpPr>
          <p:cNvPr id="18" name="Text 16"/>
          <p:cNvSpPr/>
          <p:nvPr/>
        </p:nvSpPr>
        <p:spPr>
          <a:xfrm>
            <a:off x="1133475" y="6334125"/>
            <a:ext cx="6907128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 inconsistency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133475" y="6757988"/>
            <a:ext cx="690712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i="1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handled in preprocessing</a:t>
            </a:r>
            <a:endParaRPr lang="en-US" sz="2175" dirty="0"/>
          </a:p>
        </p:txBody>
      </p:sp>
      <p:sp>
        <p:nvSpPr>
          <p:cNvPr id="20" name="Shape 18"/>
          <p:cNvSpPr/>
          <p:nvPr/>
        </p:nvSpPr>
        <p:spPr>
          <a:xfrm>
            <a:off x="914400" y="7248525"/>
            <a:ext cx="28575" cy="781050"/>
          </a:xfrm>
          <a:prstGeom prst="rect">
            <a:avLst/>
          </a:prstGeom>
          <a:solidFill>
            <a:srgbClr val="22407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3475" y="7267575"/>
            <a:ext cx="6907128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Bedroom / bathroom counts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133475" y="7691438"/>
            <a:ext cx="690712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i="1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resolved in implementation</a:t>
            </a:r>
            <a:endParaRPr lang="en-US" sz="2175" dirty="0"/>
          </a:p>
        </p:txBody>
      </p:sp>
      <p:sp>
        <p:nvSpPr>
          <p:cNvPr id="23" name="Shape 21"/>
          <p:cNvSpPr/>
          <p:nvPr/>
        </p:nvSpPr>
        <p:spPr>
          <a:xfrm>
            <a:off x="914400" y="8181975"/>
            <a:ext cx="28575" cy="781050"/>
          </a:xfrm>
          <a:prstGeom prst="rect">
            <a:avLst/>
          </a:prstGeom>
          <a:solidFill>
            <a:srgbClr val="22407A"/>
          </a:solidFill>
          <a:ln/>
        </p:spPr>
      </p:sp>
      <p:sp>
        <p:nvSpPr>
          <p:cNvPr id="24" name="Text 22"/>
          <p:cNvSpPr/>
          <p:nvPr/>
        </p:nvSpPr>
        <p:spPr>
          <a:xfrm>
            <a:off x="1133475" y="8201025"/>
            <a:ext cx="6907128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232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of sale is not exact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133475" y="8624888"/>
            <a:ext cx="690712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75" i="1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framed as prediction, not forecast</a:t>
            </a:r>
            <a:endParaRPr lang="en-US" sz="2175" dirty="0"/>
          </a:p>
        </p:txBody>
      </p:sp>
      <p:sp>
        <p:nvSpPr>
          <p:cNvPr id="26" name="Text 24"/>
          <p:cNvSpPr/>
          <p:nvPr/>
        </p:nvSpPr>
        <p:spPr>
          <a:xfrm>
            <a:off x="8022282" y="2638425"/>
            <a:ext cx="10286367" cy="418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5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sales were recorded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8022282" y="3075608"/>
            <a:ext cx="10286367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sales counts, 2018 – 2022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8022282" y="3556620"/>
            <a:ext cx="9351243" cy="4689351"/>
          </a:xfrm>
          <a:prstGeom prst="roundRect">
            <a:avLst>
              <a:gd name="adj" fmla="val 1219"/>
            </a:avLst>
          </a:prstGeom>
          <a:solidFill>
            <a:srgbClr val="FBF8F1"/>
          </a:solidFill>
          <a:ln w="14288">
            <a:solidFill>
              <a:srgbClr val="E2D8C6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2000"/>
              </a:srgbClr>
            </a:outerShdw>
          </a:effectLst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14960" b="-14960"/>
          <a:stretch/>
        </p:blipFill>
        <p:spPr>
          <a:xfrm>
            <a:off x="8246120" y="3742358"/>
            <a:ext cx="8903568" cy="431787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041332" y="8398371"/>
            <a:ext cx="9592537" cy="12028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b="1" dirty="0">
                <a:solidFill>
                  <a:srgbClr val="B354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31-March artifact: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year-end dates are imputed onto thousands of records, creating false monthly spikes — treat as coarse dates, not real activity.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00275"/>
            <a:ext cx="16459200" cy="19050"/>
          </a:xfrm>
          <a:prstGeom prst="rect">
            <a:avLst/>
          </a:prstGeom>
          <a:solidFill>
            <a:srgbClr val="DDD3C0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800100"/>
            <a:ext cx="1810512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2240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METHODOLOGY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247775"/>
            <a:ext cx="1810512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50" spc="-52" kern="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Modelling Decisions</a:t>
            </a:r>
            <a:endParaRPr lang="en-US" sz="5250" dirty="0"/>
          </a:p>
        </p:txBody>
      </p:sp>
      <p:sp>
        <p:nvSpPr>
          <p:cNvPr id="5" name="Text 3"/>
          <p:cNvSpPr/>
          <p:nvPr/>
        </p:nvSpPr>
        <p:spPr>
          <a:xfrm>
            <a:off x="914400" y="2676525"/>
            <a:ext cx="97281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PHILOSOPHY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105150"/>
            <a:ext cx="446169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Intuitive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5199087" y="3186113"/>
            <a:ext cx="35056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B35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96443" y="3105150"/>
            <a:ext cx="446169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3300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Optimised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914400" y="4400550"/>
            <a:ext cx="8843739" cy="9525"/>
          </a:xfrm>
          <a:prstGeom prst="rect">
            <a:avLst/>
          </a:prstGeom>
          <a:solidFill>
            <a:srgbClr val="DDD3C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5286375"/>
            <a:ext cx="97281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FEATURE SELECTION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5905500"/>
            <a:ext cx="446169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Stepwise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5199087" y="5986463"/>
            <a:ext cx="35056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B35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80369" y="5715000"/>
            <a:ext cx="417777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Recursive Feature Elimination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7391400"/>
            <a:ext cx="8843739" cy="9525"/>
          </a:xfrm>
          <a:prstGeom prst="rect">
            <a:avLst/>
          </a:prstGeom>
          <a:solidFill>
            <a:srgbClr val="DDD3C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8277225"/>
            <a:ext cx="972811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24" kern="0" dirty="0">
                <a:solidFill>
                  <a:srgbClr val="A89E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MODEL FRAMEWORK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8896350"/>
            <a:ext cx="446169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Linear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5199087" y="8977313"/>
            <a:ext cx="35056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B354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580369" y="8705850"/>
            <a:ext cx="4177770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2240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 Non-linear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424889" y="2676525"/>
            <a:ext cx="7643582" cy="418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850" dirty="0">
                <a:solidFill>
                  <a:srgbClr val="2320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 prices across Cambridgeshire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0424889" y="3113708"/>
            <a:ext cx="7643582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sale price by area, 2018 – 2022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0424889" y="3575670"/>
            <a:ext cx="6948711" cy="5480745"/>
          </a:xfrm>
          <a:prstGeom prst="roundRect">
            <a:avLst>
              <a:gd name="adj" fmla="val 1043"/>
            </a:avLst>
          </a:prstGeom>
          <a:solidFill>
            <a:srgbClr val="FBF8F1"/>
          </a:solidFill>
          <a:ln w="14288">
            <a:solidFill>
              <a:srgbClr val="E2D8C6"/>
            </a:solidFill>
            <a:prstDash val="solid"/>
          </a:ln>
          <a:effectLst>
            <a:outerShdw sx="100000" sy="100000" kx="0" ky="0" algn="bl" rotWithShape="0" blurRad="101600" dist="19050" dir="5400000">
              <a:srgbClr val="000000">
                <a:alpha val="2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rcRect l="-19935" r="-19935" t="0" b="0"/>
          <a:stretch/>
        </p:blipFill>
        <p:spPr>
          <a:xfrm>
            <a:off x="10591577" y="3742358"/>
            <a:ext cx="6615336" cy="514737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0443939" y="9189765"/>
            <a:ext cx="7601672" cy="411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6B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Priciest in Cambridge and the villages west of the city.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2026-07-08T13:32:50Z</dcterms:created>
  <dcterms:modified xsi:type="dcterms:W3CDTF">2026-07-08T13:32:50Z</dcterms:modified>
</cp:coreProperties>
</file>