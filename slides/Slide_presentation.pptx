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rapid report: modelling residential house prices across Cambridgeshire, 2018–2022. Team of six.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Sold prices 2018–2022 across 24 property types, with variables like rooms, location, distance to work, social profiles. Three data concerns and how we addressed each — the chart shows the date-of-sale artifact where financial year-end dates get imputed as 31 March.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modelling decisions: intuitive vs optimised variable selection; stepwise vs recursive feature elimination; baseline linear vs complex non-linear models for high dimensionality. Map shows median sale price by area — priciest in Cambridge and villages west of the 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281113"/>
            <a:ext cx="495300" cy="19050"/>
          </a:xfrm>
          <a:prstGeom prst="rect">
            <a:avLst/>
          </a:prstGeom>
          <a:solidFill>
            <a:srgbClr val="22407A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1143000"/>
            <a:ext cx="24744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224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RAPID REPORT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35413" y="1143000"/>
            <a:ext cx="2637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A89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94386" y="1143000"/>
            <a:ext cx="22682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6B6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2018 – 2022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857375"/>
            <a:ext cx="13735050" cy="2214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400" spc="-84" kern="0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Modelling House Prices in Cambridgeshire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1047750" y="4357390"/>
            <a:ext cx="1030128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75" i="1" dirty="0">
                <a:solidFill>
                  <a:srgbClr val="6B6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rapid statistical study of residential sale prices and the models that predict them.</a:t>
            </a:r>
            <a:endParaRPr lang="en-US" sz="2775" dirty="0"/>
          </a:p>
        </p:txBody>
      </p:sp>
      <p:sp>
        <p:nvSpPr>
          <p:cNvPr id="8" name="Text 6"/>
          <p:cNvSpPr/>
          <p:nvPr/>
        </p:nvSpPr>
        <p:spPr>
          <a:xfrm>
            <a:off x="1047750" y="515749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A89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 BY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5586115"/>
            <a:ext cx="80143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3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Diana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2039689" y="5586115"/>
            <a:ext cx="17003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DC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2400226" y="5586115"/>
            <a:ext cx="65171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3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3242444" y="5586115"/>
            <a:ext cx="17003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DC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3602980" y="5586115"/>
            <a:ext cx="91819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3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Davies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4711675" y="5586115"/>
            <a:ext cx="17003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DC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5072211" y="5586115"/>
            <a:ext cx="104685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3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Natsani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6309568" y="5586115"/>
            <a:ext cx="17003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DC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6670104" y="5586115"/>
            <a:ext cx="118519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3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Xiangjun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8045797" y="5586115"/>
            <a:ext cx="17003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DC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8406333" y="5586115"/>
            <a:ext cx="112127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3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Vedanta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13703541" y="6654779"/>
            <a:ext cx="3260367" cy="2652246"/>
          </a:xfrm>
          <a:prstGeom prst="roundRect">
            <a:avLst>
              <a:gd name="adj" fmla="val 1437"/>
            </a:avLst>
          </a:prstGeom>
          <a:solidFill>
            <a:srgbClr val="22407A"/>
          </a:solidFill>
          <a:ln w="28575">
            <a:solidFill>
              <a:srgbClr val="FBF8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13475" y="6895246"/>
            <a:ext cx="2559694" cy="504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504" kern="0" dirty="0">
                <a:solidFill>
                  <a:srgbClr val="C9D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EST. AGENT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038799" y="7246812"/>
            <a:ext cx="2609785" cy="1221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4200" b="1" spc="42" kern="0" dirty="0">
                <a:solidFill>
                  <a:srgbClr val="FB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SALE</a:t>
            </a:r>
            <a:endParaRPr lang="en-US" sz="4200" dirty="0"/>
          </a:p>
        </p:txBody>
      </p:sp>
      <p:sp>
        <p:nvSpPr>
          <p:cNvPr id="23" name="Shape 21"/>
          <p:cNvSpPr/>
          <p:nvPr/>
        </p:nvSpPr>
        <p:spPr>
          <a:xfrm>
            <a:off x="15029008" y="8477251"/>
            <a:ext cx="534758" cy="75215"/>
          </a:xfrm>
          <a:prstGeom prst="roundRect">
            <a:avLst>
              <a:gd name="adj" fmla="val 25327"/>
            </a:avLst>
          </a:prstGeom>
          <a:solidFill>
            <a:srgbClr val="B3541E"/>
          </a:solidFill>
          <a:ln/>
        </p:spPr>
      </p:sp>
      <p:sp>
        <p:nvSpPr>
          <p:cNvPr id="24" name="Text 22"/>
          <p:cNvSpPr/>
          <p:nvPr/>
        </p:nvSpPr>
        <p:spPr>
          <a:xfrm>
            <a:off x="13995611" y="8580776"/>
            <a:ext cx="2559694" cy="504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216" kern="0" dirty="0">
                <a:solidFill>
                  <a:srgbClr val="C9D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CAMBS · 2018–22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164031" y="9196330"/>
            <a:ext cx="122524" cy="670441"/>
          </a:xfrm>
          <a:prstGeom prst="rect">
            <a:avLst/>
          </a:prstGeom>
          <a:solidFill>
            <a:srgbClr val="22407A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rcRect l="694" r="694" t="0" b="0"/>
          <a:stretch/>
        </p:blipFill>
        <p:spPr>
          <a:xfrm>
            <a:off x="0" y="6438602"/>
            <a:ext cx="18288000" cy="41148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0" y="6438602"/>
            <a:ext cx="18288000" cy="4114800"/>
          </a:xfrm>
          <a:prstGeom prst="rect">
            <a:avLst/>
          </a:prstGeom>
          <a:gradFill rotWithShape="1">
            <a:gsLst>
              <a:gs pos="0">
                <a:srgbClr val="F2ECE0">
                  <a:alpha val="55000"/>
                </a:srgbClr>
              </a:gs>
              <a:gs pos="22000">
                <a:srgbClr val="F2ECE0">
                  <a:alpha val="0"/>
                </a:srgbClr>
              </a:gs>
            </a:gsLst>
            <a:lin ang="5400000" scaled="0"/>
          </a:gra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00275"/>
            <a:ext cx="16459200" cy="19050"/>
          </a:xfrm>
          <a:prstGeom prst="rect">
            <a:avLst/>
          </a:prstGeom>
          <a:solidFill>
            <a:srgbClr val="DDD3C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800100"/>
            <a:ext cx="781719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224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THE DATA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247775"/>
            <a:ext cx="781719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50" spc="-52" kern="0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 &amp; Concerns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13906485" y="990600"/>
            <a:ext cx="147356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900" dirty="0">
                <a:solidFill>
                  <a:srgbClr val="224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yrs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3906485" y="1562100"/>
            <a:ext cx="14735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6B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– 2022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725522" y="990600"/>
            <a:ext cx="164807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900" dirty="0">
                <a:solidFill>
                  <a:srgbClr val="224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5725522" y="1562100"/>
            <a:ext cx="16480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6B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types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638425"/>
            <a:ext cx="71481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A89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 IN PLAY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105150"/>
            <a:ext cx="714811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3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profile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14400" y="3471863"/>
            <a:ext cx="714811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Bedrooms · Bathrooms · Reception rooms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14400" y="3962400"/>
            <a:ext cx="714811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3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914400" y="4329113"/>
            <a:ext cx="714811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MSOA &amp; LSOA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14400" y="4819650"/>
            <a:ext cx="714811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3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profile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914400" y="5186363"/>
            <a:ext cx="714811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Ethnicity · Age · Education · Distance to work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14400" y="5848350"/>
            <a:ext cx="71481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A89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CONCERN → SOLUTION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6315075"/>
            <a:ext cx="28575" cy="781050"/>
          </a:xfrm>
          <a:prstGeom prst="rect">
            <a:avLst/>
          </a:prstGeom>
          <a:solidFill>
            <a:srgbClr val="22407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33475" y="6334125"/>
            <a:ext cx="690712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3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inconsistency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33475" y="6757988"/>
            <a:ext cx="690712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i="1" dirty="0">
                <a:solidFill>
                  <a:srgbClr val="224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handled in preprocessing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914400" y="7248525"/>
            <a:ext cx="28575" cy="781050"/>
          </a:xfrm>
          <a:prstGeom prst="rect">
            <a:avLst/>
          </a:prstGeom>
          <a:solidFill>
            <a:srgbClr val="22407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133475" y="7267575"/>
            <a:ext cx="690712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3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Bedroom / bathroom counts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133475" y="7691438"/>
            <a:ext cx="690712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i="1" dirty="0">
                <a:solidFill>
                  <a:srgbClr val="224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resolved in implementation</a:t>
            </a:r>
            <a:endParaRPr lang="en-US" sz="2175" dirty="0"/>
          </a:p>
        </p:txBody>
      </p:sp>
      <p:sp>
        <p:nvSpPr>
          <p:cNvPr id="23" name="Shape 21"/>
          <p:cNvSpPr/>
          <p:nvPr/>
        </p:nvSpPr>
        <p:spPr>
          <a:xfrm>
            <a:off x="914400" y="8181975"/>
            <a:ext cx="28575" cy="781050"/>
          </a:xfrm>
          <a:prstGeom prst="rect">
            <a:avLst/>
          </a:prstGeom>
          <a:solidFill>
            <a:srgbClr val="22407A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33475" y="8201025"/>
            <a:ext cx="690712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3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sale is not exact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33475" y="8624888"/>
            <a:ext cx="690712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i="1" dirty="0">
                <a:solidFill>
                  <a:srgbClr val="224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framed as prediction, not forecast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8022282" y="2638425"/>
            <a:ext cx="10286367" cy="41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50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sales were recorded</a:t>
            </a:r>
            <a:endParaRPr lang="en-US" sz="2850" dirty="0"/>
          </a:p>
        </p:txBody>
      </p:sp>
      <p:sp>
        <p:nvSpPr>
          <p:cNvPr id="27" name="Text 25"/>
          <p:cNvSpPr/>
          <p:nvPr/>
        </p:nvSpPr>
        <p:spPr>
          <a:xfrm>
            <a:off x="8022282" y="3075608"/>
            <a:ext cx="1028636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sales counts, 2018 – 2022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8022282" y="3556620"/>
            <a:ext cx="9351243" cy="4689351"/>
          </a:xfrm>
          <a:prstGeom prst="roundRect">
            <a:avLst>
              <a:gd name="adj" fmla="val 1219"/>
            </a:avLst>
          </a:prstGeom>
          <a:solidFill>
            <a:srgbClr val="FBF8F1"/>
          </a:solidFill>
          <a:ln w="14288">
            <a:solidFill>
              <a:srgbClr val="E2D8C6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4960" b="-14960"/>
          <a:stretch/>
        </p:blipFill>
        <p:spPr>
          <a:xfrm>
            <a:off x="8246120" y="3742358"/>
            <a:ext cx="8903568" cy="431787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041332" y="8229600"/>
            <a:ext cx="9592537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l" indent="0" marL="0">
              <a:lnSpc>
                <a:spcPct val="145000"/>
              </a:lnSpc>
              <a:spcAft>
                <a:spcPts val="300"/>
              </a:spcAft>
              <a:buNone/>
            </a:pPr>
            <a:pPr algn="l" indent="0" marL="0">
              <a:lnSpc>
                <a:spcPct val="145000"/>
              </a:lnSpc>
              <a:buNone/>
            </a:pPr>
            <a:r>
              <a:rPr sz="1800" b="1">
                <a:solidFill>
                  <a:srgbClr val="B3541E"/>
                </a:solidFill>
                <a:latin typeface="Arial"/>
              </a:rPr>
              <a:t>Why the two 31-March spikes?</a:t>
            </a:r>
            <a:endParaRPr lang="en-US" sz="2100" dirty="0"/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B3541E"/>
                </a:solidFill>
                <a:latin typeface="Arial"/>
              </a:rPr>
              <a:t>2020 </a:t>
            </a:r>
            <a:r>
              <a:rPr sz="1400" b="0">
                <a:solidFill>
                  <a:srgbClr val="6B6355"/>
                </a:solidFill>
                <a:latin typeface="Arial"/>
              </a:rPr>
              <a:t>— rush to beat the 6 Apr CGT overhaul (Private Residence &amp; Lettings Relief cut, 30-day reporting) + Section 24 &amp; MEES → landlords sell.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B3541E"/>
                </a:solidFill>
                <a:latin typeface="Arial"/>
              </a:rPr>
              <a:t>2019 </a:t>
            </a:r>
            <a:r>
              <a:rPr sz="1400" b="0">
                <a:solidFill>
                  <a:srgbClr val="6B6355"/>
                </a:solidFill>
                <a:latin typeface="Arial"/>
              </a:rPr>
              <a:t>— SDLT filing cut to 14 days from 1 Mar (HMRC: pre/post figures ‘not comparable’); Brexit’s 29 Mar deadline froze activity.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B3541E"/>
                </a:solidFill>
                <a:latin typeface="Arial"/>
              </a:rPr>
              <a:t>Caveat </a:t>
            </a:r>
            <a:r>
              <a:rPr sz="1400" b="0">
                <a:solidFill>
                  <a:srgbClr val="6B6355"/>
                </a:solidFill>
                <a:latin typeface="Arial"/>
              </a:rPr>
              <a:t>— records are duplicated &amp; imputed to the year-end, so we treat sale dates as coarse (financial year), not exact.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A89E8B"/>
                </a:solidFill>
                <a:latin typeface="Courier New"/>
              </a:rPr>
              <a:t>Sources: GOV.UK (CGT · monthly property transactions · MEES) · Crowe UK · LandlordZone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00275"/>
            <a:ext cx="16459200" cy="19050"/>
          </a:xfrm>
          <a:prstGeom prst="rect">
            <a:avLst/>
          </a:prstGeom>
          <a:solidFill>
            <a:srgbClr val="DDD3C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0010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224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METHODOLOGY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247775"/>
            <a:ext cx="181051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50" spc="-52" kern="0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Modelling Decisions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914400" y="2676525"/>
            <a:ext cx="97281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A89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PHILOSOPHY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05150"/>
            <a:ext cx="446169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Intuitive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199087" y="3186113"/>
            <a:ext cx="3505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35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96443" y="3105150"/>
            <a:ext cx="446169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300" dirty="0">
                <a:solidFill>
                  <a:srgbClr val="224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Optimised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914400" y="4400550"/>
            <a:ext cx="8843739" cy="9525"/>
          </a:xfrm>
          <a:prstGeom prst="rect">
            <a:avLst/>
          </a:prstGeom>
          <a:solidFill>
            <a:srgbClr val="DDD3C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286375"/>
            <a:ext cx="97281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A89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FEATURE SELECTION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905500"/>
            <a:ext cx="446169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Stepwise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5199087" y="5986463"/>
            <a:ext cx="3505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35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80369" y="5715000"/>
            <a:ext cx="417777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224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Recursive Feature Elimination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14400" y="7391400"/>
            <a:ext cx="8843739" cy="9525"/>
          </a:xfrm>
          <a:prstGeom prst="rect">
            <a:avLst/>
          </a:prstGeom>
          <a:solidFill>
            <a:srgbClr val="DDD3C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8277225"/>
            <a:ext cx="97281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A89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MODEL FRAMEWORK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8896350"/>
            <a:ext cx="446169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Linear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5199087" y="8977313"/>
            <a:ext cx="3505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35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80369" y="8705850"/>
            <a:ext cx="417777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224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 Non-linear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424889" y="2676525"/>
            <a:ext cx="7643582" cy="41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50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 prices across Cambridgeshire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0424889" y="3113708"/>
            <a:ext cx="764358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sale price by area, 2018 – 2022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0424889" y="3575670"/>
            <a:ext cx="6948711" cy="5480745"/>
          </a:xfrm>
          <a:prstGeom prst="roundRect">
            <a:avLst>
              <a:gd name="adj" fmla="val 1043"/>
            </a:avLst>
          </a:prstGeom>
          <a:solidFill>
            <a:srgbClr val="FBF8F1"/>
          </a:solidFill>
          <a:ln w="14288">
            <a:solidFill>
              <a:srgbClr val="E2D8C6"/>
            </a:solidFill>
            <a:prstDash val="solid"/>
          </a:ln>
          <a:effectLst>
            <a:outerShdw sx="100000" sy="100000" kx="0" ky="0" algn="bl" rotWithShape="0" blurRad="101600" dist="19050" dir="5400000">
              <a:srgbClr val="000000">
                <a:alpha val="2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-19935" r="-19935" t="0" b="0"/>
          <a:stretch/>
        </p:blipFill>
        <p:spPr>
          <a:xfrm>
            <a:off x="10591577" y="3742358"/>
            <a:ext cx="6615336" cy="514737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443939" y="9189765"/>
            <a:ext cx="7601672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B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Priciest in Cambridge and the villages west of the city.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2026-07-08T13:32:50Z</dcterms:created>
  <dcterms:modified xsi:type="dcterms:W3CDTF">2026-07-08T13:32:50Z</dcterms:modified>
</cp:coreProperties>
</file>